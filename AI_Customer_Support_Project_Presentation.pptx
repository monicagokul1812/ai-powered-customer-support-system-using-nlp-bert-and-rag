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9" r:id="rId8"/>
    <p:sldId id="270" r:id="rId9"/>
    <p:sldId id="271" r:id="rId10"/>
    <p:sldId id="262" r:id="rId11"/>
    <p:sldId id="263" r:id="rId12"/>
    <p:sldId id="264" r:id="rId13"/>
    <p:sldId id="265" r:id="rId14"/>
    <p:sldId id="272" r:id="rId15"/>
    <p:sldId id="273"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AI-Powered Customer Support System</a:t>
            </a:r>
          </a:p>
        </p:txBody>
      </p:sp>
      <p:sp>
        <p:nvSpPr>
          <p:cNvPr id="3" name="Subtitle 2"/>
          <p:cNvSpPr>
            <a:spLocks noGrp="1"/>
          </p:cNvSpPr>
          <p:nvPr>
            <p:ph type="subTitle" idx="1"/>
          </p:nvPr>
        </p:nvSpPr>
        <p:spPr/>
        <p:txBody>
          <a:bodyPr/>
          <a:lstStyle/>
          <a:p>
            <a:r>
              <a:t>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lstStyle/>
          <a:p>
            <a:r>
              <a:t>This project builds an intelligent AI system that can automatically understand and respond to customer queries. It uses Natural Language Processing and transformer models to detect user intent, analyze sentiment, retrieve relevant knowledge, and generate helpful responses.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 Automate customer support responses</a:t>
            </a:r>
          </a:p>
          <a:p>
            <a:r>
              <a:t>• Understand customer intent from text queries</a:t>
            </a:r>
          </a:p>
          <a:p>
            <a:r>
              <a:t>• Detect customer sentiment (emotion)</a:t>
            </a:r>
          </a:p>
          <a:p>
            <a:r>
              <a:t>• Retrieve relevant knowledge using vector search</a:t>
            </a:r>
          </a:p>
          <a:p>
            <a:r>
              <a:t>• Generate AI-based responses for users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a:t>
            </a:r>
          </a:p>
        </p:txBody>
      </p:sp>
      <p:sp>
        <p:nvSpPr>
          <p:cNvPr id="3" name="Content Placeholder 2"/>
          <p:cNvSpPr>
            <a:spLocks noGrp="1"/>
          </p:cNvSpPr>
          <p:nvPr>
            <p:ph idx="1"/>
          </p:nvPr>
        </p:nvSpPr>
        <p:spPr/>
        <p:txBody>
          <a:bodyPr/>
          <a:lstStyle/>
          <a:p>
            <a:r>
              <a:t>Dataset: Zendesk Customer Support Dataset</a:t>
            </a:r>
          </a:p>
          <a:p>
            <a:r>
              <a:t>Total records: ~50,000</a:t>
            </a:r>
          </a:p>
          <a:p>
            <a:r>
              <a:t>Sample used: 25,000</a:t>
            </a:r>
          </a:p>
          <a:p>
            <a:r>
              <a:t>Key columns: query, intent, sentiment, product_group, plan, priority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a:t>
            </a:r>
          </a:p>
        </p:txBody>
      </p:sp>
      <p:sp>
        <p:nvSpPr>
          <p:cNvPr id="3" name="Content Placeholder 2"/>
          <p:cNvSpPr>
            <a:spLocks noGrp="1"/>
          </p:cNvSpPr>
          <p:nvPr>
            <p:ph idx="1"/>
          </p:nvPr>
        </p:nvSpPr>
        <p:spPr/>
        <p:txBody>
          <a:bodyPr/>
          <a:lstStyle/>
          <a:p>
            <a:pPr marL="514350" indent="-514350">
              <a:buFont typeface="+mj-lt"/>
              <a:buAutoNum type="arabicPeriod"/>
            </a:pPr>
            <a:r>
              <a:rPr dirty="0"/>
              <a:t>• Selected relevant columns</a:t>
            </a:r>
          </a:p>
          <a:p>
            <a:pPr marL="514350" indent="-514350">
              <a:buFont typeface="+mj-lt"/>
              <a:buAutoNum type="arabicPeriod"/>
            </a:pPr>
            <a:r>
              <a:rPr dirty="0"/>
              <a:t>• Renamed query column to text</a:t>
            </a:r>
          </a:p>
          <a:p>
            <a:pPr marL="514350" indent="-514350">
              <a:buFont typeface="+mj-lt"/>
              <a:buAutoNum type="arabicPeriod"/>
            </a:pPr>
            <a:r>
              <a:rPr dirty="0"/>
              <a:t>• Filtered important intents and sentiments</a:t>
            </a:r>
          </a:p>
          <a:p>
            <a:pPr marL="514350" indent="-514350">
              <a:buFont typeface="+mj-lt"/>
              <a:buAutoNum type="arabicPeriod"/>
            </a:pPr>
            <a:r>
              <a:rPr dirty="0"/>
              <a:t>• Text cleaning (lowercase, remove symbols)</a:t>
            </a:r>
          </a:p>
          <a:p>
            <a:pPr marL="514350" indent="-514350">
              <a:buFont typeface="+mj-lt"/>
              <a:buAutoNum type="arabicPeriod"/>
            </a:pPr>
            <a:r>
              <a:rPr dirty="0"/>
              <a:t>• Saved cleaned dataset for model training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Exploratory Data Analysis</a:t>
            </a:r>
          </a:p>
        </p:txBody>
      </p:sp>
      <p:sp>
        <p:nvSpPr>
          <p:cNvPr id="3" name="Content Placeholder 2"/>
          <p:cNvSpPr>
            <a:spLocks noGrp="1"/>
          </p:cNvSpPr>
          <p:nvPr>
            <p:ph idx="1"/>
          </p:nvPr>
        </p:nvSpPr>
        <p:spPr/>
        <p:txBody>
          <a:bodyPr/>
          <a:lstStyle/>
          <a:p>
            <a:r>
              <a:rPr dirty="0"/>
              <a:t>EDA was performed to understand customer data.</a:t>
            </a:r>
          </a:p>
          <a:p>
            <a:r>
              <a:rPr dirty="0"/>
              <a:t>Visualizations created:</a:t>
            </a:r>
          </a:p>
          <a:p>
            <a:pPr lvl="1"/>
            <a:r>
              <a:rPr dirty="0"/>
              <a:t>• Sentiment distribution</a:t>
            </a:r>
          </a:p>
          <a:p>
            <a:pPr lvl="1"/>
            <a:r>
              <a:rPr dirty="0"/>
              <a:t>• Intent distribution</a:t>
            </a:r>
          </a:p>
          <a:p>
            <a:pPr lvl="1"/>
            <a:r>
              <a:rPr dirty="0"/>
              <a:t>• Intent vs Sentiment</a:t>
            </a:r>
          </a:p>
          <a:p>
            <a:pPr lvl="1"/>
            <a:r>
              <a:rPr dirty="0"/>
              <a:t>• Query length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02D1F-1025-A1A8-B81E-F803ED679109}"/>
              </a:ext>
            </a:extLst>
          </p:cNvPr>
          <p:cNvSpPr>
            <a:spLocks noGrp="1"/>
          </p:cNvSpPr>
          <p:nvPr>
            <p:ph type="title"/>
          </p:nvPr>
        </p:nvSpPr>
        <p:spPr/>
        <p:txBody>
          <a:bodyPr/>
          <a:lstStyle/>
          <a:p>
            <a:r>
              <a:rPr lang="en-US" dirty="0"/>
              <a:t>EDA –sentiment distribution</a:t>
            </a:r>
            <a:endParaRPr lang="en-IN" dirty="0"/>
          </a:p>
        </p:txBody>
      </p:sp>
      <p:pic>
        <p:nvPicPr>
          <p:cNvPr id="1026" name="Picture 2">
            <a:extLst>
              <a:ext uri="{FF2B5EF4-FFF2-40B4-BE49-F238E27FC236}">
                <a16:creationId xmlns:a16="http://schemas.microsoft.com/office/drawing/2014/main" id="{624B55CB-E2F7-7A2B-35BE-469FF27D648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53305" y="1714337"/>
            <a:ext cx="6437389" cy="4470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9980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C7899-F765-30A6-38AB-6C4D8BFC8D7F}"/>
              </a:ext>
            </a:extLst>
          </p:cNvPr>
          <p:cNvSpPr>
            <a:spLocks noGrp="1"/>
          </p:cNvSpPr>
          <p:nvPr>
            <p:ph type="title"/>
          </p:nvPr>
        </p:nvSpPr>
        <p:spPr/>
        <p:txBody>
          <a:bodyPr/>
          <a:lstStyle/>
          <a:p>
            <a:r>
              <a:rPr lang="en-US" dirty="0"/>
              <a:t>Sentiment vs intent</a:t>
            </a:r>
            <a:endParaRPr lang="en-IN" dirty="0"/>
          </a:p>
        </p:txBody>
      </p:sp>
      <p:pic>
        <p:nvPicPr>
          <p:cNvPr id="2050" name="Picture 2">
            <a:extLst>
              <a:ext uri="{FF2B5EF4-FFF2-40B4-BE49-F238E27FC236}">
                <a16:creationId xmlns:a16="http://schemas.microsoft.com/office/drawing/2014/main" id="{263227DE-662E-DA7E-FF58-2F399F78A43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55484" y="1600200"/>
            <a:ext cx="7338503"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821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38B1E-765B-D157-77E5-B1BCABC8EBD5}"/>
              </a:ext>
            </a:extLst>
          </p:cNvPr>
          <p:cNvSpPr>
            <a:spLocks noGrp="1"/>
          </p:cNvSpPr>
          <p:nvPr>
            <p:ph type="title"/>
          </p:nvPr>
        </p:nvSpPr>
        <p:spPr/>
        <p:txBody>
          <a:bodyPr/>
          <a:lstStyle/>
          <a:p>
            <a:r>
              <a:rPr lang="en-US" dirty="0"/>
              <a:t> Message length distribution</a:t>
            </a:r>
            <a:endParaRPr lang="en-IN" dirty="0"/>
          </a:p>
        </p:txBody>
      </p:sp>
      <p:pic>
        <p:nvPicPr>
          <p:cNvPr id="3074" name="Picture 2">
            <a:extLst>
              <a:ext uri="{FF2B5EF4-FFF2-40B4-BE49-F238E27FC236}">
                <a16:creationId xmlns:a16="http://schemas.microsoft.com/office/drawing/2014/main" id="{F9F9B991-9B53-EE9F-FA68-57A9273F15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076" y="1607228"/>
            <a:ext cx="6575461" cy="4546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066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Intent Classification Model</a:t>
            </a:r>
          </a:p>
        </p:txBody>
      </p:sp>
      <p:sp>
        <p:nvSpPr>
          <p:cNvPr id="3" name="Content Placeholder 2"/>
          <p:cNvSpPr>
            <a:spLocks noGrp="1"/>
          </p:cNvSpPr>
          <p:nvPr>
            <p:ph idx="1"/>
          </p:nvPr>
        </p:nvSpPr>
        <p:spPr>
          <a:xfrm>
            <a:off x="457200" y="1600200"/>
            <a:ext cx="8229600" cy="5257799"/>
          </a:xfrm>
        </p:spPr>
        <p:txBody>
          <a:bodyPr>
            <a:normAutofit lnSpcReduction="10000"/>
          </a:bodyPr>
          <a:lstStyle/>
          <a:p>
            <a:r>
              <a:rPr dirty="0"/>
              <a:t>Model Used: </a:t>
            </a:r>
            <a:r>
              <a:rPr dirty="0" err="1"/>
              <a:t>DistilBERT</a:t>
            </a:r>
            <a:r>
              <a:rPr dirty="0"/>
              <a:t> (</a:t>
            </a:r>
            <a:r>
              <a:rPr dirty="0" err="1"/>
              <a:t>HuggingFace</a:t>
            </a:r>
            <a:r>
              <a:rPr dirty="0"/>
              <a:t> Transformers)</a:t>
            </a:r>
          </a:p>
          <a:p>
            <a:r>
              <a:rPr dirty="0"/>
              <a:t>Purpose: Identify the type of customer request.</a:t>
            </a:r>
          </a:p>
          <a:p>
            <a:r>
              <a:rPr dirty="0"/>
              <a:t>Examples:</a:t>
            </a:r>
          </a:p>
          <a:p>
            <a:pPr lvl="1"/>
            <a:r>
              <a:rPr dirty="0"/>
              <a:t>• Billing issue</a:t>
            </a:r>
          </a:p>
          <a:p>
            <a:pPr lvl="1"/>
            <a:r>
              <a:rPr dirty="0"/>
              <a:t>• Technical support</a:t>
            </a:r>
          </a:p>
          <a:p>
            <a:pPr lvl="1"/>
            <a:r>
              <a:rPr dirty="0"/>
              <a:t>• Refund request</a:t>
            </a:r>
          </a:p>
          <a:p>
            <a:pPr lvl="1"/>
            <a:r>
              <a:rPr dirty="0"/>
              <a:t>• Plan upgrade</a:t>
            </a:r>
          </a:p>
          <a:p>
            <a:pPr lvl="1"/>
            <a:r>
              <a:rPr dirty="0"/>
              <a:t>• Cancellation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a:xfrm>
            <a:off x="457200" y="1600200"/>
            <a:ext cx="8229600" cy="4543746"/>
          </a:xfrm>
        </p:spPr>
        <p:txBody>
          <a:bodyPr>
            <a:normAutofit lnSpcReduction="10000"/>
          </a:bodyPr>
          <a:lstStyle/>
          <a:p>
            <a:r>
              <a:rPr dirty="0"/>
              <a:t>Sentiment model detects the customer's emotional state.</a:t>
            </a:r>
          </a:p>
          <a:p>
            <a:r>
              <a:rPr dirty="0"/>
              <a:t>Classes:</a:t>
            </a:r>
          </a:p>
          <a:p>
            <a:pPr lvl="1"/>
            <a:r>
              <a:rPr dirty="0"/>
              <a:t>• Angry</a:t>
            </a:r>
          </a:p>
          <a:p>
            <a:pPr lvl="1"/>
            <a:r>
              <a:rPr dirty="0"/>
              <a:t>• Neutral</a:t>
            </a:r>
          </a:p>
          <a:p>
            <a:pPr lvl="1"/>
            <a:r>
              <a:rPr dirty="0"/>
              <a:t>• Happy</a:t>
            </a:r>
          </a:p>
          <a:p>
            <a:pPr lvl="1"/>
            <a:r>
              <a:rPr dirty="0"/>
              <a:t>• Satisfied</a:t>
            </a:r>
          </a:p>
          <a:p>
            <a:r>
              <a:rPr dirty="0"/>
              <a:t>This helps prioritize urgent or negative customer issues.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Vector Database &amp; Retrieval</a:t>
            </a:r>
          </a:p>
        </p:txBody>
      </p:sp>
      <p:sp>
        <p:nvSpPr>
          <p:cNvPr id="3" name="Content Placeholder 2"/>
          <p:cNvSpPr>
            <a:spLocks noGrp="1"/>
          </p:cNvSpPr>
          <p:nvPr>
            <p:ph idx="1"/>
          </p:nvPr>
        </p:nvSpPr>
        <p:spPr/>
        <p:txBody>
          <a:bodyPr/>
          <a:lstStyle/>
          <a:p>
            <a:r>
              <a:t>FAISS vector database is used to store support documents.</a:t>
            </a:r>
          </a:p>
          <a:p>
            <a:r>
              <a:t>Sentence Transformers convert text into embeddings.</a:t>
            </a:r>
          </a:p>
          <a:p>
            <a:r>
              <a:t>System retrieves the most relevant support information</a:t>
            </a:r>
          </a:p>
          <a:p>
            <a:r>
              <a:t>based on semantic similarity.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Response Generation</a:t>
            </a:r>
          </a:p>
        </p:txBody>
      </p:sp>
      <p:sp>
        <p:nvSpPr>
          <p:cNvPr id="3" name="Content Placeholder 2"/>
          <p:cNvSpPr>
            <a:spLocks noGrp="1"/>
          </p:cNvSpPr>
          <p:nvPr>
            <p:ph idx="1"/>
          </p:nvPr>
        </p:nvSpPr>
        <p:spPr/>
        <p:txBody>
          <a:bodyPr/>
          <a:lstStyle/>
          <a:p>
            <a:r>
              <a:t>The system uses GPT‑2 to generate responses.</a:t>
            </a:r>
          </a:p>
          <a:p>
            <a:r>
              <a:t>Steps:</a:t>
            </a:r>
          </a:p>
          <a:p>
            <a:r>
              <a:t>1. User query processed</a:t>
            </a:r>
          </a:p>
          <a:p>
            <a:r>
              <a:t>2. Relevant document retrieved</a:t>
            </a:r>
          </a:p>
          <a:p>
            <a:r>
              <a:t>3. Context passed to GPT‑2</a:t>
            </a:r>
          </a:p>
          <a:p>
            <a:r>
              <a:t>4. AI generates final response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8C382-A493-DD4E-06B0-5673CE1F88A8}"/>
              </a:ext>
            </a:extLst>
          </p:cNvPr>
          <p:cNvSpPr>
            <a:spLocks noGrp="1"/>
          </p:cNvSpPr>
          <p:nvPr>
            <p:ph type="title"/>
          </p:nvPr>
        </p:nvSpPr>
        <p:spPr/>
        <p:txBody>
          <a:bodyPr/>
          <a:lstStyle/>
          <a:p>
            <a:r>
              <a:rPr lang="en-US" dirty="0"/>
              <a:t>Training output</a:t>
            </a:r>
            <a:endParaRPr lang="en-IN" dirty="0"/>
          </a:p>
        </p:txBody>
      </p:sp>
      <p:graphicFrame>
        <p:nvGraphicFramePr>
          <p:cNvPr id="4" name="Content Placeholder 3">
            <a:extLst>
              <a:ext uri="{FF2B5EF4-FFF2-40B4-BE49-F238E27FC236}">
                <a16:creationId xmlns:a16="http://schemas.microsoft.com/office/drawing/2014/main" id="{BA85CAFC-0CBC-FAD3-FF71-7454838D4D1B}"/>
              </a:ext>
            </a:extLst>
          </p:cNvPr>
          <p:cNvGraphicFramePr>
            <a:graphicFrameLocks noGrp="1"/>
          </p:cNvGraphicFramePr>
          <p:nvPr>
            <p:ph idx="1"/>
            <p:extLst>
              <p:ext uri="{D42A27DB-BD31-4B8C-83A1-F6EECF244321}">
                <p14:modId xmlns:p14="http://schemas.microsoft.com/office/powerpoint/2010/main" val="4213478026"/>
              </p:ext>
            </p:extLst>
          </p:nvPr>
        </p:nvGraphicFramePr>
        <p:xfrm>
          <a:off x="457200" y="2705854"/>
          <a:ext cx="8229600" cy="2206388"/>
        </p:xfrm>
        <a:graphic>
          <a:graphicData uri="http://schemas.openxmlformats.org/drawingml/2006/table">
            <a:tbl>
              <a:tblPr/>
              <a:tblGrid>
                <a:gridCol w="2057400">
                  <a:extLst>
                    <a:ext uri="{9D8B030D-6E8A-4147-A177-3AD203B41FA5}">
                      <a16:colId xmlns:a16="http://schemas.microsoft.com/office/drawing/2014/main" val="3703579564"/>
                    </a:ext>
                  </a:extLst>
                </a:gridCol>
                <a:gridCol w="2057400">
                  <a:extLst>
                    <a:ext uri="{9D8B030D-6E8A-4147-A177-3AD203B41FA5}">
                      <a16:colId xmlns:a16="http://schemas.microsoft.com/office/drawing/2014/main" val="89254627"/>
                    </a:ext>
                  </a:extLst>
                </a:gridCol>
                <a:gridCol w="2057400">
                  <a:extLst>
                    <a:ext uri="{9D8B030D-6E8A-4147-A177-3AD203B41FA5}">
                      <a16:colId xmlns:a16="http://schemas.microsoft.com/office/drawing/2014/main" val="1431796419"/>
                    </a:ext>
                  </a:extLst>
                </a:gridCol>
                <a:gridCol w="2057400">
                  <a:extLst>
                    <a:ext uri="{9D8B030D-6E8A-4147-A177-3AD203B41FA5}">
                      <a16:colId xmlns:a16="http://schemas.microsoft.com/office/drawing/2014/main" val="2255150826"/>
                    </a:ext>
                  </a:extLst>
                </a:gridCol>
              </a:tblGrid>
              <a:tr h="551597">
                <a:tc>
                  <a:txBody>
                    <a:bodyPr/>
                    <a:lstStyle/>
                    <a:p>
                      <a:pPr>
                        <a:buNone/>
                      </a:pPr>
                      <a:r>
                        <a:rPr lang="en-IN"/>
                        <a:t>Epoch</a:t>
                      </a:r>
                    </a:p>
                  </a:txBody>
                  <a:tcPr anchor="ctr">
                    <a:lnL>
                      <a:noFill/>
                    </a:lnL>
                    <a:lnR>
                      <a:noFill/>
                    </a:lnR>
                    <a:lnT>
                      <a:noFill/>
                    </a:lnT>
                    <a:lnB>
                      <a:noFill/>
                    </a:lnB>
                    <a:noFill/>
                  </a:tcPr>
                </a:tc>
                <a:tc>
                  <a:txBody>
                    <a:bodyPr/>
                    <a:lstStyle/>
                    <a:p>
                      <a:pPr>
                        <a:buNone/>
                      </a:pPr>
                      <a:r>
                        <a:rPr lang="en-IN"/>
                        <a:t>Training Loss</a:t>
                      </a:r>
                    </a:p>
                  </a:txBody>
                  <a:tcPr anchor="ctr">
                    <a:lnL>
                      <a:noFill/>
                    </a:lnL>
                    <a:lnR>
                      <a:noFill/>
                    </a:lnR>
                    <a:lnT>
                      <a:noFill/>
                    </a:lnT>
                    <a:lnB>
                      <a:noFill/>
                    </a:lnB>
                    <a:noFill/>
                  </a:tcPr>
                </a:tc>
                <a:tc>
                  <a:txBody>
                    <a:bodyPr/>
                    <a:lstStyle/>
                    <a:p>
                      <a:pPr>
                        <a:buNone/>
                      </a:pPr>
                      <a:r>
                        <a:rPr lang="en-IN"/>
                        <a:t>Validation Loss</a:t>
                      </a:r>
                    </a:p>
                  </a:txBody>
                  <a:tcPr anchor="ctr">
                    <a:lnL>
                      <a:noFill/>
                    </a:lnL>
                    <a:lnR>
                      <a:noFill/>
                    </a:lnR>
                    <a:lnT>
                      <a:noFill/>
                    </a:lnT>
                    <a:lnB>
                      <a:noFill/>
                    </a:lnB>
                    <a:noFill/>
                  </a:tcPr>
                </a:tc>
                <a:tc>
                  <a:txBody>
                    <a:bodyPr/>
                    <a:lstStyle/>
                    <a:p>
                      <a:pPr>
                        <a:buNone/>
                      </a:pPr>
                      <a:r>
                        <a:rPr lang="en-IN"/>
                        <a:t>Accuracy</a:t>
                      </a:r>
                    </a:p>
                  </a:txBody>
                  <a:tcPr anchor="ctr">
                    <a:lnL>
                      <a:noFill/>
                    </a:lnL>
                    <a:lnR>
                      <a:noFill/>
                    </a:lnR>
                    <a:lnT>
                      <a:noFill/>
                    </a:lnT>
                    <a:lnB>
                      <a:noFill/>
                    </a:lnB>
                    <a:noFill/>
                  </a:tcPr>
                </a:tc>
                <a:extLst>
                  <a:ext uri="{0D108BD9-81ED-4DB2-BD59-A6C34878D82A}">
                    <a16:rowId xmlns:a16="http://schemas.microsoft.com/office/drawing/2014/main" val="1276454048"/>
                  </a:ext>
                </a:extLst>
              </a:tr>
              <a:tr h="551597">
                <a:tc>
                  <a:txBody>
                    <a:bodyPr/>
                    <a:lstStyle/>
                    <a:p>
                      <a:pPr>
                        <a:buNone/>
                      </a:pPr>
                      <a:r>
                        <a:rPr lang="en-IN"/>
                        <a:t>1</a:t>
                      </a:r>
                    </a:p>
                  </a:txBody>
                  <a:tcPr anchor="ctr">
                    <a:lnL>
                      <a:noFill/>
                    </a:lnL>
                    <a:lnR>
                      <a:noFill/>
                    </a:lnR>
                    <a:lnT>
                      <a:noFill/>
                    </a:lnT>
                    <a:lnB>
                      <a:noFill/>
                    </a:lnB>
                    <a:noFill/>
                  </a:tcPr>
                </a:tc>
                <a:tc>
                  <a:txBody>
                    <a:bodyPr/>
                    <a:lstStyle/>
                    <a:p>
                      <a:pPr>
                        <a:buNone/>
                      </a:pPr>
                      <a:r>
                        <a:rPr lang="en-IN"/>
                        <a:t>0.000894</a:t>
                      </a:r>
                    </a:p>
                  </a:txBody>
                  <a:tcPr anchor="ctr">
                    <a:lnL>
                      <a:noFill/>
                    </a:lnL>
                    <a:lnR>
                      <a:noFill/>
                    </a:lnR>
                    <a:lnT>
                      <a:noFill/>
                    </a:lnT>
                    <a:lnB>
                      <a:noFill/>
                    </a:lnB>
                    <a:noFill/>
                  </a:tcPr>
                </a:tc>
                <a:tc>
                  <a:txBody>
                    <a:bodyPr/>
                    <a:lstStyle/>
                    <a:p>
                      <a:pPr>
                        <a:buNone/>
                      </a:pPr>
                      <a:r>
                        <a:rPr lang="en-IN"/>
                        <a:t>0.000547</a:t>
                      </a:r>
                    </a:p>
                  </a:txBody>
                  <a:tcPr anchor="ctr">
                    <a:lnL>
                      <a:noFill/>
                    </a:lnL>
                    <a:lnR>
                      <a:noFill/>
                    </a:lnR>
                    <a:lnT>
                      <a:noFill/>
                    </a:lnT>
                    <a:lnB>
                      <a:noFill/>
                    </a:lnB>
                    <a:noFill/>
                  </a:tcPr>
                </a:tc>
                <a:tc>
                  <a:txBody>
                    <a:bodyPr/>
                    <a:lstStyle/>
                    <a:p>
                      <a:pPr>
                        <a:buNone/>
                      </a:pPr>
                      <a:r>
                        <a:rPr lang="en-IN"/>
                        <a:t>1.000000</a:t>
                      </a:r>
                    </a:p>
                  </a:txBody>
                  <a:tcPr anchor="ctr">
                    <a:lnL>
                      <a:noFill/>
                    </a:lnL>
                    <a:lnR>
                      <a:noFill/>
                    </a:lnR>
                    <a:lnT>
                      <a:noFill/>
                    </a:lnT>
                    <a:lnB>
                      <a:noFill/>
                    </a:lnB>
                    <a:noFill/>
                  </a:tcPr>
                </a:tc>
                <a:extLst>
                  <a:ext uri="{0D108BD9-81ED-4DB2-BD59-A6C34878D82A}">
                    <a16:rowId xmlns:a16="http://schemas.microsoft.com/office/drawing/2014/main" val="216596390"/>
                  </a:ext>
                </a:extLst>
              </a:tr>
              <a:tr h="551597">
                <a:tc>
                  <a:txBody>
                    <a:bodyPr/>
                    <a:lstStyle/>
                    <a:p>
                      <a:pPr>
                        <a:buNone/>
                      </a:pPr>
                      <a:r>
                        <a:rPr lang="en-IN"/>
                        <a:t>2</a:t>
                      </a:r>
                    </a:p>
                  </a:txBody>
                  <a:tcPr anchor="ctr">
                    <a:lnL>
                      <a:noFill/>
                    </a:lnL>
                    <a:lnR>
                      <a:noFill/>
                    </a:lnR>
                    <a:lnT>
                      <a:noFill/>
                    </a:lnT>
                    <a:lnB>
                      <a:noFill/>
                    </a:lnB>
                    <a:noFill/>
                  </a:tcPr>
                </a:tc>
                <a:tc>
                  <a:txBody>
                    <a:bodyPr/>
                    <a:lstStyle/>
                    <a:p>
                      <a:pPr>
                        <a:buNone/>
                      </a:pPr>
                      <a:r>
                        <a:rPr lang="en-IN"/>
                        <a:t>0.000289</a:t>
                      </a:r>
                    </a:p>
                  </a:txBody>
                  <a:tcPr anchor="ctr">
                    <a:lnL>
                      <a:noFill/>
                    </a:lnL>
                    <a:lnR>
                      <a:noFill/>
                    </a:lnR>
                    <a:lnT>
                      <a:noFill/>
                    </a:lnT>
                    <a:lnB>
                      <a:noFill/>
                    </a:lnB>
                    <a:noFill/>
                  </a:tcPr>
                </a:tc>
                <a:tc>
                  <a:txBody>
                    <a:bodyPr/>
                    <a:lstStyle/>
                    <a:p>
                      <a:pPr>
                        <a:buNone/>
                      </a:pPr>
                      <a:r>
                        <a:rPr lang="en-IN"/>
                        <a:t>0.000173</a:t>
                      </a:r>
                    </a:p>
                  </a:txBody>
                  <a:tcPr anchor="ctr">
                    <a:lnL>
                      <a:noFill/>
                    </a:lnL>
                    <a:lnR>
                      <a:noFill/>
                    </a:lnR>
                    <a:lnT>
                      <a:noFill/>
                    </a:lnT>
                    <a:lnB>
                      <a:noFill/>
                    </a:lnB>
                    <a:noFill/>
                  </a:tcPr>
                </a:tc>
                <a:tc>
                  <a:txBody>
                    <a:bodyPr/>
                    <a:lstStyle/>
                    <a:p>
                      <a:pPr>
                        <a:buNone/>
                      </a:pPr>
                      <a:r>
                        <a:rPr lang="en-IN"/>
                        <a:t>1.000000</a:t>
                      </a:r>
                    </a:p>
                  </a:txBody>
                  <a:tcPr anchor="ctr">
                    <a:lnL>
                      <a:noFill/>
                    </a:lnL>
                    <a:lnR>
                      <a:noFill/>
                    </a:lnR>
                    <a:lnT>
                      <a:noFill/>
                    </a:lnT>
                    <a:lnB>
                      <a:noFill/>
                    </a:lnB>
                    <a:noFill/>
                  </a:tcPr>
                </a:tc>
                <a:extLst>
                  <a:ext uri="{0D108BD9-81ED-4DB2-BD59-A6C34878D82A}">
                    <a16:rowId xmlns:a16="http://schemas.microsoft.com/office/drawing/2014/main" val="106428970"/>
                  </a:ext>
                </a:extLst>
              </a:tr>
              <a:tr h="551597">
                <a:tc>
                  <a:txBody>
                    <a:bodyPr/>
                    <a:lstStyle/>
                    <a:p>
                      <a:pPr>
                        <a:buNone/>
                      </a:pPr>
                      <a:r>
                        <a:rPr lang="en-IN"/>
                        <a:t>3</a:t>
                      </a:r>
                    </a:p>
                  </a:txBody>
                  <a:tcPr anchor="ctr">
                    <a:lnL>
                      <a:noFill/>
                    </a:lnL>
                    <a:lnR>
                      <a:noFill/>
                    </a:lnR>
                    <a:lnT>
                      <a:noFill/>
                    </a:lnT>
                    <a:lnB>
                      <a:noFill/>
                    </a:lnB>
                    <a:noFill/>
                  </a:tcPr>
                </a:tc>
                <a:tc>
                  <a:txBody>
                    <a:bodyPr/>
                    <a:lstStyle/>
                    <a:p>
                      <a:pPr>
                        <a:buNone/>
                      </a:pPr>
                      <a:r>
                        <a:rPr lang="en-IN"/>
                        <a:t>0.000190</a:t>
                      </a:r>
                    </a:p>
                  </a:txBody>
                  <a:tcPr anchor="ctr">
                    <a:lnL>
                      <a:noFill/>
                    </a:lnL>
                    <a:lnR>
                      <a:noFill/>
                    </a:lnR>
                    <a:lnT>
                      <a:noFill/>
                    </a:lnT>
                    <a:lnB>
                      <a:noFill/>
                    </a:lnB>
                    <a:noFill/>
                  </a:tcPr>
                </a:tc>
                <a:tc>
                  <a:txBody>
                    <a:bodyPr/>
                    <a:lstStyle/>
                    <a:p>
                      <a:pPr>
                        <a:buNone/>
                      </a:pPr>
                      <a:r>
                        <a:rPr lang="en-IN"/>
                        <a:t>0.000116</a:t>
                      </a:r>
                    </a:p>
                  </a:txBody>
                  <a:tcPr anchor="ctr">
                    <a:lnL>
                      <a:noFill/>
                    </a:lnL>
                    <a:lnR>
                      <a:noFill/>
                    </a:lnR>
                    <a:lnT>
                      <a:noFill/>
                    </a:lnT>
                    <a:lnB>
                      <a:noFill/>
                    </a:lnB>
                    <a:noFill/>
                  </a:tcPr>
                </a:tc>
                <a:tc>
                  <a:txBody>
                    <a:bodyPr/>
                    <a:lstStyle/>
                    <a:p>
                      <a:pPr>
                        <a:buNone/>
                      </a:pPr>
                      <a:r>
                        <a:rPr lang="en-IN" dirty="0"/>
                        <a:t>1.000000</a:t>
                      </a:r>
                    </a:p>
                  </a:txBody>
                  <a:tcPr anchor="ctr">
                    <a:lnL>
                      <a:noFill/>
                    </a:lnL>
                    <a:lnR>
                      <a:noFill/>
                    </a:lnR>
                    <a:lnT>
                      <a:noFill/>
                    </a:lnT>
                    <a:lnB>
                      <a:noFill/>
                    </a:lnB>
                    <a:noFill/>
                  </a:tcPr>
                </a:tc>
                <a:extLst>
                  <a:ext uri="{0D108BD9-81ED-4DB2-BD59-A6C34878D82A}">
                    <a16:rowId xmlns:a16="http://schemas.microsoft.com/office/drawing/2014/main" val="859515840"/>
                  </a:ext>
                </a:extLst>
              </a:tr>
            </a:tbl>
          </a:graphicData>
        </a:graphic>
      </p:graphicFrame>
    </p:spTree>
    <p:extLst>
      <p:ext uri="{BB962C8B-B14F-4D97-AF65-F5344CB8AC3E}">
        <p14:creationId xmlns:p14="http://schemas.microsoft.com/office/powerpoint/2010/main" val="3323368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CA2E-3800-0DB1-62FA-CFB1E34DB160}"/>
              </a:ext>
            </a:extLst>
          </p:cNvPr>
          <p:cNvSpPr>
            <a:spLocks noGrp="1"/>
          </p:cNvSpPr>
          <p:nvPr>
            <p:ph type="title"/>
          </p:nvPr>
        </p:nvSpPr>
        <p:spPr/>
        <p:txBody>
          <a:bodyPr>
            <a:normAutofit fontScale="90000"/>
          </a:bodyPr>
          <a:lstStyle/>
          <a:p>
            <a:r>
              <a:rPr lang="en-US" dirty="0"/>
              <a:t>Intent classification confusion matrix</a:t>
            </a:r>
            <a:endParaRPr lang="en-IN" dirty="0"/>
          </a:p>
        </p:txBody>
      </p:sp>
      <p:pic>
        <p:nvPicPr>
          <p:cNvPr id="5122" name="Picture 2">
            <a:extLst>
              <a:ext uri="{FF2B5EF4-FFF2-40B4-BE49-F238E27FC236}">
                <a16:creationId xmlns:a16="http://schemas.microsoft.com/office/drawing/2014/main" id="{F2758575-2474-676A-7418-D04A956E13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1125" y="1714337"/>
            <a:ext cx="6072026" cy="4297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204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3043" y="274638"/>
            <a:ext cx="6205592" cy="1143000"/>
          </a:xfrm>
        </p:spPr>
        <p:txBody>
          <a:bodyPr/>
          <a:lstStyle/>
          <a:p>
            <a:r>
              <a:rPr lang="en-IN" dirty="0"/>
              <a:t>System Output </a:t>
            </a:r>
            <a:endParaRPr dirty="0"/>
          </a:p>
        </p:txBody>
      </p:sp>
      <p:sp>
        <p:nvSpPr>
          <p:cNvPr id="3" name="Content Placeholder 2"/>
          <p:cNvSpPr>
            <a:spLocks noGrp="1"/>
          </p:cNvSpPr>
          <p:nvPr>
            <p:ph idx="1"/>
          </p:nvPr>
        </p:nvSpPr>
        <p:spPr>
          <a:xfrm>
            <a:off x="457200" y="1600200"/>
            <a:ext cx="8229600" cy="4525963"/>
          </a:xfrm>
        </p:spPr>
        <p:txBody>
          <a:bodyPr>
            <a:normAutofit fontScale="85000" lnSpcReduction="20000"/>
          </a:bodyPr>
          <a:lstStyle/>
          <a:p>
            <a:r>
              <a:rPr dirty="0"/>
              <a:t>User Query: 'I want to cancel my subscription'</a:t>
            </a:r>
          </a:p>
          <a:p>
            <a:endParaRPr dirty="0"/>
          </a:p>
          <a:p>
            <a:r>
              <a:rPr dirty="0"/>
              <a:t>Predicted Intent: Cancellation</a:t>
            </a:r>
          </a:p>
          <a:p>
            <a:r>
              <a:rPr dirty="0"/>
              <a:t>Sentiment: Neutral</a:t>
            </a:r>
          </a:p>
          <a:p>
            <a:r>
              <a:rPr dirty="0"/>
              <a:t>AI Response: Instructions to cancel subscription</a:t>
            </a:r>
          </a:p>
          <a:p>
            <a:endParaRPr dirty="0"/>
          </a:p>
          <a:p>
            <a:r>
              <a:rPr dirty="0"/>
              <a:t>User Query: 'My internet is not working'</a:t>
            </a:r>
          </a:p>
          <a:p>
            <a:r>
              <a:rPr dirty="0"/>
              <a:t>Intent: Technical Support</a:t>
            </a:r>
          </a:p>
          <a:p>
            <a:r>
              <a:rPr dirty="0"/>
              <a:t>Sentiment: Angry</a:t>
            </a:r>
          </a:p>
          <a:p>
            <a:r>
              <a:rPr dirty="0"/>
              <a:t>AI Response: Troubleshooting steps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Architecture</a:t>
            </a:r>
          </a:p>
        </p:txBody>
      </p:sp>
      <p:sp>
        <p:nvSpPr>
          <p:cNvPr id="3" name="Content Placeholder 2"/>
          <p:cNvSpPr>
            <a:spLocks noGrp="1"/>
          </p:cNvSpPr>
          <p:nvPr>
            <p:ph idx="1"/>
          </p:nvPr>
        </p:nvSpPr>
        <p:spPr/>
        <p:txBody>
          <a:bodyPr/>
          <a:lstStyle/>
          <a:p>
            <a:r>
              <a:t>User Query → Text Processing → Intent Classification → Sentiment Analysis → Vector Embedding → FAISS Search → Knowledge Retrieval → GPT‑2 Response → Streamlit Interface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project demonstrates how NLP, transformer models, vector databases, and generative AI can be combined to build an intelligent automated customer support assistant. The system improves response efficiency and reduces manual support workload.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464</Words>
  <Application>Microsoft Office PowerPoint</Application>
  <PresentationFormat>On-screen Show (4:3)</PresentationFormat>
  <Paragraphs>93</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AI-Powered Customer Support System</vt:lpstr>
      <vt:lpstr>Project Overview</vt:lpstr>
      <vt:lpstr>Objectives</vt:lpstr>
      <vt:lpstr>Dataset</vt:lpstr>
      <vt:lpstr>Data Preprocessing</vt:lpstr>
      <vt:lpstr>Exploratory Data Analysis</vt:lpstr>
      <vt:lpstr>EDA –sentiment distribution</vt:lpstr>
      <vt:lpstr>Sentiment vs intent</vt:lpstr>
      <vt:lpstr> Message length distribution</vt:lpstr>
      <vt:lpstr>Intent Classification Model</vt:lpstr>
      <vt:lpstr>Sentiment Analysis</vt:lpstr>
      <vt:lpstr>Vector Database &amp; Retrieval</vt:lpstr>
      <vt:lpstr>Response Generation</vt:lpstr>
      <vt:lpstr>Training output</vt:lpstr>
      <vt:lpstr>Intent classification confusion matrix</vt:lpstr>
      <vt:lpstr>System Output </vt:lpstr>
      <vt:lpstr>Project Architecture</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monica ashok</cp:lastModifiedBy>
  <cp:revision>2</cp:revision>
  <dcterms:created xsi:type="dcterms:W3CDTF">2013-01-27T09:14:16Z</dcterms:created>
  <dcterms:modified xsi:type="dcterms:W3CDTF">2026-03-17T08:26:22Z</dcterms:modified>
  <cp:category/>
</cp:coreProperties>
</file>